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
      <p:font typeface="Lobster"/>
      <p:regular r:id="rId19"/>
    </p:embeddedFont>
    <p:embeddedFont>
      <p:font typeface="Average"/>
      <p:regular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verage-regular.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schemas.openxmlformats.org/officeDocument/2006/relationships/font" Target="fonts/Lobster-regular.fnt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4205923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4205923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42059234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42059234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e2c1c7059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e2c1c7059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e2c1c7059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e2c1c7059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e2c1c70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e2c1c70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e9d5ce8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e9d5ce8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Path to go through: [ 0  1  3 16 17]</a:t>
            </a:r>
            <a:endParaRPr/>
          </a:p>
          <a:p>
            <a:pPr indent="0" lvl="0" marL="0" rtl="0" algn="l">
              <a:spcBef>
                <a:spcPts val="0"/>
              </a:spcBef>
              <a:spcAft>
                <a:spcPts val="0"/>
              </a:spcAft>
              <a:buNone/>
            </a:pPr>
            <a:r>
              <a:rPr lang="en"/>
              <a:t>Voting perceptron or other non-linear </a:t>
            </a:r>
            <a:r>
              <a:rPr lang="en"/>
              <a:t>classifier</a:t>
            </a:r>
            <a:r>
              <a:rPr lang="en"/>
              <a:t> would be better</a:t>
            </a:r>
            <a:endParaRPr/>
          </a:p>
          <a:p>
            <a:pPr indent="0" lvl="0" marL="0" rtl="0" algn="l">
              <a:spcBef>
                <a:spcPts val="0"/>
              </a:spcBef>
              <a:spcAft>
                <a:spcPts val="0"/>
              </a:spcAft>
              <a:buNone/>
            </a:pPr>
            <a:r>
              <a:rPr lang="en"/>
              <a:t>Weights are super weird. We tried some correlation coefficients to reduce the columns we are using</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42059234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42059234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42059234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42059234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mahmoudelhemaly/students-grading-data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Grade Predictor</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By: </a:t>
            </a:r>
            <a:r>
              <a:rPr lang="en"/>
              <a:t>Tyler Garfield, </a:t>
            </a:r>
            <a:r>
              <a:rPr lang="en"/>
              <a:t>Kevin Pratt, David Rincon Villanueva, </a:t>
            </a:r>
            <a:r>
              <a:rPr lang="en"/>
              <a:t>Ferdous Khan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Problem</a:t>
            </a:r>
            <a:endParaRPr/>
          </a:p>
          <a:p>
            <a:pPr indent="0" lvl="0" marL="0" rtl="0" algn="l">
              <a:spcBef>
                <a:spcPts val="0"/>
              </a:spcBef>
              <a:spcAft>
                <a:spcPts val="0"/>
              </a:spcAft>
              <a:buNone/>
            </a:pPr>
            <a:r>
              <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dataset: Student Performance and Behavior Dataset from Kaggle</a:t>
            </a:r>
            <a:endParaRPr/>
          </a:p>
          <a:p>
            <a:pPr indent="0" lvl="0" marL="0" rtl="0" algn="l">
              <a:spcBef>
                <a:spcPts val="1200"/>
              </a:spcBef>
              <a:spcAft>
                <a:spcPts val="0"/>
              </a:spcAft>
              <a:buNone/>
            </a:pPr>
            <a:r>
              <a:rPr lang="en" u="sng">
                <a:solidFill>
                  <a:schemeClr val="hlink"/>
                </a:solidFill>
                <a:hlinkClick r:id="rId3"/>
              </a:rPr>
              <a:t>https://www.kaggle.com/datasets/mahmoudelhemaly/students-grading-dataset</a:t>
            </a:r>
            <a:endParaRPr/>
          </a:p>
          <a:p>
            <a:pPr indent="-342900" lvl="0" marL="457200" rtl="0" algn="l">
              <a:spcBef>
                <a:spcPts val="1200"/>
              </a:spcBef>
              <a:spcAft>
                <a:spcPts val="0"/>
              </a:spcAft>
              <a:buSzPts val="1800"/>
              <a:buChar char="●"/>
            </a:pPr>
            <a:r>
              <a:rPr lang="en"/>
              <a:t>Motivation: Try and identify main predictors that contribute to passing or failing in a course.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73975" y="17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a:t>
            </a:r>
            <a:endParaRPr/>
          </a:p>
        </p:txBody>
      </p:sp>
      <p:sp>
        <p:nvSpPr>
          <p:cNvPr id="72" name="Google Shape;72;p15"/>
          <p:cNvSpPr txBox="1"/>
          <p:nvPr>
            <p:ph idx="1" type="body"/>
          </p:nvPr>
        </p:nvSpPr>
        <p:spPr>
          <a:xfrm>
            <a:off x="170225" y="1171500"/>
            <a:ext cx="46299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Clr>
                <a:schemeClr val="dk1"/>
              </a:buClr>
              <a:buSzPct val="100000"/>
              <a:buChar char="●"/>
            </a:pPr>
            <a:r>
              <a:rPr lang="en">
                <a:solidFill>
                  <a:schemeClr val="dk1"/>
                </a:solidFill>
              </a:rPr>
              <a:t>S</a:t>
            </a:r>
            <a:r>
              <a:rPr lang="en">
                <a:solidFill>
                  <a:schemeClr val="dk1"/>
                </a:solidFill>
              </a:rPr>
              <a:t>tarted by using an FFNN with one hidden layer but the model was very unstable.</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We ended up altering our goal </a:t>
            </a:r>
            <a:r>
              <a:rPr lang="en">
                <a:solidFill>
                  <a:schemeClr val="dk1"/>
                </a:solidFill>
              </a:rPr>
              <a:t>slightly</a:t>
            </a:r>
            <a:r>
              <a:rPr lang="en">
                <a:solidFill>
                  <a:schemeClr val="dk1"/>
                </a:solidFill>
              </a:rPr>
              <a:t> from predicting grade to predicting pass fail and using an average perceptron. </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Used Pearson Correlation </a:t>
            </a:r>
            <a:r>
              <a:rPr lang="en">
                <a:solidFill>
                  <a:schemeClr val="dk1"/>
                </a:solidFill>
              </a:rPr>
              <a:t>coefficients</a:t>
            </a:r>
            <a:r>
              <a:rPr lang="en">
                <a:solidFill>
                  <a:schemeClr val="dk1"/>
                </a:solidFill>
              </a:rPr>
              <a:t> to determine best </a:t>
            </a:r>
            <a:r>
              <a:rPr lang="en">
                <a:solidFill>
                  <a:schemeClr val="dk1"/>
                </a:solidFill>
              </a:rPr>
              <a:t>predictors</a:t>
            </a:r>
            <a:r>
              <a:rPr lang="en">
                <a:solidFill>
                  <a:schemeClr val="dk1"/>
                </a:solidFill>
              </a:rPr>
              <a:t> to use</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Switched to </a:t>
            </a:r>
            <a:r>
              <a:rPr lang="en">
                <a:solidFill>
                  <a:schemeClr val="dk1"/>
                </a:solidFill>
              </a:rPr>
              <a:t>predicting at three locations, before first midterm, after midterm, and after final. </a:t>
            </a:r>
            <a:endParaRPr>
              <a:solidFill>
                <a:schemeClr val="dk1"/>
              </a:solidFill>
            </a:endParaRPr>
          </a:p>
          <a:p>
            <a:pPr indent="0" lvl="0" marL="0" rtl="0" algn="l">
              <a:spcBef>
                <a:spcPts val="1200"/>
              </a:spcBef>
              <a:spcAft>
                <a:spcPts val="1200"/>
              </a:spcAft>
              <a:buNone/>
            </a:pPr>
            <a:r>
              <a:t/>
            </a:r>
            <a:endParaRPr/>
          </a:p>
        </p:txBody>
      </p:sp>
      <p:pic>
        <p:nvPicPr>
          <p:cNvPr id="73" name="Google Shape;73;p15"/>
          <p:cNvPicPr preferRelativeResize="0"/>
          <p:nvPr/>
        </p:nvPicPr>
        <p:blipFill>
          <a:blip r:embed="rId3">
            <a:alphaModFix/>
          </a:blip>
          <a:stretch>
            <a:fillRect/>
          </a:stretch>
        </p:blipFill>
        <p:spPr>
          <a:xfrm>
            <a:off x="5883275" y="174425"/>
            <a:ext cx="1955000" cy="2602600"/>
          </a:xfrm>
          <a:prstGeom prst="rect">
            <a:avLst/>
          </a:prstGeom>
          <a:noFill/>
          <a:ln>
            <a:noFill/>
          </a:ln>
        </p:spPr>
      </p:pic>
      <p:pic>
        <p:nvPicPr>
          <p:cNvPr id="74" name="Google Shape;74;p15"/>
          <p:cNvPicPr preferRelativeResize="0"/>
          <p:nvPr/>
        </p:nvPicPr>
        <p:blipFill>
          <a:blip r:embed="rId4">
            <a:alphaModFix/>
          </a:blip>
          <a:stretch>
            <a:fillRect/>
          </a:stretch>
        </p:blipFill>
        <p:spPr>
          <a:xfrm>
            <a:off x="5581601" y="3131175"/>
            <a:ext cx="2558350" cy="1769925"/>
          </a:xfrm>
          <a:prstGeom prst="rect">
            <a:avLst/>
          </a:prstGeom>
          <a:noFill/>
          <a:ln>
            <a:noFill/>
          </a:ln>
        </p:spPr>
      </p:pic>
      <p:sp>
        <p:nvSpPr>
          <p:cNvPr id="75" name="Google Shape;75;p15"/>
          <p:cNvSpPr/>
          <p:nvPr/>
        </p:nvSpPr>
        <p:spPr>
          <a:xfrm>
            <a:off x="7534475" y="2777025"/>
            <a:ext cx="199200" cy="5727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FFNN performance</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6"/>
          <p:cNvPicPr preferRelativeResize="0"/>
          <p:nvPr/>
        </p:nvPicPr>
        <p:blipFill>
          <a:blip r:embed="rId3">
            <a:alphaModFix/>
          </a:blip>
          <a:stretch>
            <a:fillRect/>
          </a:stretch>
        </p:blipFill>
        <p:spPr>
          <a:xfrm>
            <a:off x="311700" y="971850"/>
            <a:ext cx="2823325" cy="2092975"/>
          </a:xfrm>
          <a:prstGeom prst="rect">
            <a:avLst/>
          </a:prstGeom>
          <a:noFill/>
          <a:ln>
            <a:noFill/>
          </a:ln>
        </p:spPr>
      </p:pic>
      <p:pic>
        <p:nvPicPr>
          <p:cNvPr id="83" name="Google Shape;83;p16"/>
          <p:cNvPicPr preferRelativeResize="0"/>
          <p:nvPr/>
        </p:nvPicPr>
        <p:blipFill>
          <a:blip r:embed="rId4">
            <a:alphaModFix/>
          </a:blip>
          <a:stretch>
            <a:fillRect/>
          </a:stretch>
        </p:blipFill>
        <p:spPr>
          <a:xfrm>
            <a:off x="311700" y="3064825"/>
            <a:ext cx="2654199" cy="1990650"/>
          </a:xfrm>
          <a:prstGeom prst="rect">
            <a:avLst/>
          </a:prstGeom>
          <a:noFill/>
          <a:ln>
            <a:noFill/>
          </a:ln>
        </p:spPr>
      </p:pic>
      <p:pic>
        <p:nvPicPr>
          <p:cNvPr id="84" name="Google Shape;84;p16"/>
          <p:cNvPicPr preferRelativeResize="0"/>
          <p:nvPr/>
        </p:nvPicPr>
        <p:blipFill>
          <a:blip r:embed="rId5">
            <a:alphaModFix/>
          </a:blip>
          <a:stretch>
            <a:fillRect/>
          </a:stretch>
        </p:blipFill>
        <p:spPr>
          <a:xfrm>
            <a:off x="4571988" y="1895475"/>
            <a:ext cx="3743325" cy="135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5212989" y="0"/>
            <a:ext cx="3185361" cy="5143500"/>
          </a:xfrm>
          <a:prstGeom prst="rect">
            <a:avLst/>
          </a:prstGeom>
          <a:noFill/>
          <a:ln>
            <a:noFill/>
          </a:ln>
        </p:spPr>
      </p:pic>
      <p:sp>
        <p:nvSpPr>
          <p:cNvPr id="90" name="Google Shape;90;p17"/>
          <p:cNvSpPr/>
          <p:nvPr/>
        </p:nvSpPr>
        <p:spPr>
          <a:xfrm>
            <a:off x="7807045" y="837650"/>
            <a:ext cx="591300" cy="23745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p:nvPr/>
        </p:nvSpPr>
        <p:spPr>
          <a:xfrm>
            <a:off x="7807045" y="3518000"/>
            <a:ext cx="591300" cy="236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7"/>
          <p:cNvSpPr/>
          <p:nvPr/>
        </p:nvSpPr>
        <p:spPr>
          <a:xfrm>
            <a:off x="547250" y="2131875"/>
            <a:ext cx="4325514" cy="879774"/>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9FC5E8"/>
                </a:solidFill>
                <a:latin typeface="Arial"/>
              </a:rPr>
              <a:t>Pearson Correlation</a:t>
            </a:r>
            <a:br>
              <a:rPr b="0" i="0">
                <a:ln cap="flat" cmpd="sng" w="9525">
                  <a:solidFill>
                    <a:schemeClr val="dk2"/>
                  </a:solidFill>
                  <a:prstDash val="solid"/>
                  <a:round/>
                  <a:headEnd len="sm" w="sm" type="none"/>
                  <a:tailEnd len="sm" w="sm" type="none"/>
                </a:ln>
                <a:solidFill>
                  <a:srgbClr val="9FC5E8"/>
                </a:solidFill>
                <a:latin typeface="Arial"/>
              </a:rPr>
            </a:br>
            <a:r>
              <a:rPr b="0" i="0">
                <a:ln cap="flat" cmpd="sng" w="9525">
                  <a:solidFill>
                    <a:schemeClr val="dk2"/>
                  </a:solidFill>
                  <a:prstDash val="solid"/>
                  <a:round/>
                  <a:headEnd len="sm" w="sm" type="none"/>
                  <a:tailEnd len="sm" w="sm" type="none"/>
                </a:ln>
                <a:solidFill>
                  <a:srgbClr val="9FC5E8"/>
                </a:solidFill>
                <a:latin typeface="Arial"/>
              </a:rPr>
              <a:t>Coefficients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71000" y="12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Average Perceptron Performance</a:t>
            </a:r>
            <a:endParaRPr/>
          </a:p>
        </p:txBody>
      </p:sp>
      <p:pic>
        <p:nvPicPr>
          <p:cNvPr id="98" name="Google Shape;98;p18"/>
          <p:cNvPicPr preferRelativeResize="0"/>
          <p:nvPr/>
        </p:nvPicPr>
        <p:blipFill rotWithShape="1">
          <a:blip r:embed="rId3">
            <a:alphaModFix/>
          </a:blip>
          <a:srcRect b="60967" l="0" r="0" t="0"/>
          <a:stretch/>
        </p:blipFill>
        <p:spPr>
          <a:xfrm>
            <a:off x="167350" y="1284625"/>
            <a:ext cx="2381250" cy="1234300"/>
          </a:xfrm>
          <a:prstGeom prst="rect">
            <a:avLst/>
          </a:prstGeom>
          <a:noFill/>
          <a:ln>
            <a:noFill/>
          </a:ln>
        </p:spPr>
      </p:pic>
      <p:pic>
        <p:nvPicPr>
          <p:cNvPr id="99" name="Google Shape;99;p18"/>
          <p:cNvPicPr preferRelativeResize="0"/>
          <p:nvPr/>
        </p:nvPicPr>
        <p:blipFill rotWithShape="1">
          <a:blip r:embed="rId4">
            <a:alphaModFix/>
          </a:blip>
          <a:srcRect b="61202" l="0" r="0" t="0"/>
          <a:stretch/>
        </p:blipFill>
        <p:spPr>
          <a:xfrm>
            <a:off x="3614325" y="1275100"/>
            <a:ext cx="2057400" cy="1234300"/>
          </a:xfrm>
          <a:prstGeom prst="rect">
            <a:avLst/>
          </a:prstGeom>
          <a:noFill/>
          <a:ln>
            <a:noFill/>
          </a:ln>
        </p:spPr>
      </p:pic>
      <p:pic>
        <p:nvPicPr>
          <p:cNvPr id="100" name="Google Shape;100;p18"/>
          <p:cNvPicPr preferRelativeResize="0"/>
          <p:nvPr/>
        </p:nvPicPr>
        <p:blipFill rotWithShape="1">
          <a:blip r:embed="rId5">
            <a:alphaModFix/>
          </a:blip>
          <a:srcRect b="61523" l="0" r="0" t="0"/>
          <a:stretch/>
        </p:blipFill>
        <p:spPr>
          <a:xfrm>
            <a:off x="6554578" y="1284625"/>
            <a:ext cx="2009775" cy="1158100"/>
          </a:xfrm>
          <a:prstGeom prst="rect">
            <a:avLst/>
          </a:prstGeom>
          <a:noFill/>
          <a:ln>
            <a:noFill/>
          </a:ln>
        </p:spPr>
      </p:pic>
      <p:sp>
        <p:nvSpPr>
          <p:cNvPr id="101" name="Google Shape;101;p18"/>
          <p:cNvSpPr txBox="1"/>
          <p:nvPr>
            <p:ph type="title"/>
          </p:nvPr>
        </p:nvSpPr>
        <p:spPr>
          <a:xfrm>
            <a:off x="167275" y="702400"/>
            <a:ext cx="2381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Before Midterm</a:t>
            </a:r>
            <a:endParaRPr/>
          </a:p>
        </p:txBody>
      </p:sp>
      <p:sp>
        <p:nvSpPr>
          <p:cNvPr id="102" name="Google Shape;102;p18"/>
          <p:cNvSpPr txBox="1"/>
          <p:nvPr>
            <p:ph type="title"/>
          </p:nvPr>
        </p:nvSpPr>
        <p:spPr>
          <a:xfrm>
            <a:off x="3452325" y="702400"/>
            <a:ext cx="194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Before Final</a:t>
            </a:r>
            <a:endParaRPr/>
          </a:p>
        </p:txBody>
      </p:sp>
      <p:sp>
        <p:nvSpPr>
          <p:cNvPr id="103" name="Google Shape;103;p18"/>
          <p:cNvSpPr txBox="1"/>
          <p:nvPr>
            <p:ph type="title"/>
          </p:nvPr>
        </p:nvSpPr>
        <p:spPr>
          <a:xfrm>
            <a:off x="6604445" y="788125"/>
            <a:ext cx="194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After Final</a:t>
            </a:r>
            <a:endParaRPr/>
          </a:p>
        </p:txBody>
      </p:sp>
      <p:pic>
        <p:nvPicPr>
          <p:cNvPr id="104" name="Google Shape;104;p18"/>
          <p:cNvPicPr preferRelativeResize="0"/>
          <p:nvPr/>
        </p:nvPicPr>
        <p:blipFill>
          <a:blip r:embed="rId6">
            <a:alphaModFix/>
          </a:blip>
          <a:stretch>
            <a:fillRect/>
          </a:stretch>
        </p:blipFill>
        <p:spPr>
          <a:xfrm>
            <a:off x="161400" y="2749125"/>
            <a:ext cx="2663660" cy="2063675"/>
          </a:xfrm>
          <a:prstGeom prst="rect">
            <a:avLst/>
          </a:prstGeom>
          <a:noFill/>
          <a:ln>
            <a:noFill/>
          </a:ln>
        </p:spPr>
      </p:pic>
      <p:pic>
        <p:nvPicPr>
          <p:cNvPr id="105" name="Google Shape;105;p18"/>
          <p:cNvPicPr preferRelativeResize="0"/>
          <p:nvPr/>
        </p:nvPicPr>
        <p:blipFill>
          <a:blip r:embed="rId7">
            <a:alphaModFix/>
          </a:blip>
          <a:stretch>
            <a:fillRect/>
          </a:stretch>
        </p:blipFill>
        <p:spPr>
          <a:xfrm>
            <a:off x="3159718" y="2749135"/>
            <a:ext cx="2765144" cy="2142289"/>
          </a:xfrm>
          <a:prstGeom prst="rect">
            <a:avLst/>
          </a:prstGeom>
          <a:noFill/>
          <a:ln>
            <a:noFill/>
          </a:ln>
        </p:spPr>
      </p:pic>
      <p:pic>
        <p:nvPicPr>
          <p:cNvPr id="106" name="Google Shape;106;p18"/>
          <p:cNvPicPr preferRelativeResize="0"/>
          <p:nvPr/>
        </p:nvPicPr>
        <p:blipFill>
          <a:blip r:embed="rId8">
            <a:alphaModFix/>
          </a:blip>
          <a:stretch>
            <a:fillRect/>
          </a:stretch>
        </p:blipFill>
        <p:spPr>
          <a:xfrm>
            <a:off x="6217465" y="2749136"/>
            <a:ext cx="2765133" cy="21422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Analysis</a:t>
            </a:r>
            <a:endParaRPr/>
          </a:p>
          <a:p>
            <a:pPr indent="0" lvl="0" marL="0" rtl="0" algn="l">
              <a:spcBef>
                <a:spcPts val="0"/>
              </a:spcBef>
              <a:spcAft>
                <a:spcPts val="0"/>
              </a:spcAft>
              <a:buNone/>
            </a:pPr>
            <a:r>
              <a:t/>
            </a:r>
            <a:endParaRPr/>
          </a:p>
        </p:txBody>
      </p:sp>
      <p:pic>
        <p:nvPicPr>
          <p:cNvPr id="112" name="Google Shape;112;p19"/>
          <p:cNvPicPr preferRelativeResize="0"/>
          <p:nvPr/>
        </p:nvPicPr>
        <p:blipFill rotWithShape="1">
          <a:blip r:embed="rId3">
            <a:alphaModFix/>
          </a:blip>
          <a:srcRect b="0" l="0" r="9608" t="0"/>
          <a:stretch/>
        </p:blipFill>
        <p:spPr>
          <a:xfrm>
            <a:off x="6070750" y="0"/>
            <a:ext cx="3073251" cy="2184050"/>
          </a:xfrm>
          <a:prstGeom prst="rect">
            <a:avLst/>
          </a:prstGeom>
          <a:noFill/>
          <a:ln>
            <a:noFill/>
          </a:ln>
        </p:spPr>
      </p:pic>
      <p:pic>
        <p:nvPicPr>
          <p:cNvPr id="113" name="Google Shape;113;p19"/>
          <p:cNvPicPr preferRelativeResize="0"/>
          <p:nvPr/>
        </p:nvPicPr>
        <p:blipFill rotWithShape="1">
          <a:blip r:embed="rId4">
            <a:alphaModFix/>
          </a:blip>
          <a:srcRect b="0" l="6585" r="3071" t="0"/>
          <a:stretch/>
        </p:blipFill>
        <p:spPr>
          <a:xfrm>
            <a:off x="48650" y="681113"/>
            <a:ext cx="5979602" cy="3781276"/>
          </a:xfrm>
          <a:prstGeom prst="rect">
            <a:avLst/>
          </a:prstGeom>
          <a:noFill/>
          <a:ln>
            <a:noFill/>
          </a:ln>
        </p:spPr>
      </p:pic>
      <p:pic>
        <p:nvPicPr>
          <p:cNvPr id="114" name="Google Shape;114;p19"/>
          <p:cNvPicPr preferRelativeResize="0"/>
          <p:nvPr/>
        </p:nvPicPr>
        <p:blipFill rotWithShape="1">
          <a:blip r:embed="rId5">
            <a:alphaModFix/>
          </a:blip>
          <a:srcRect b="0" l="8046" r="73754" t="7149"/>
          <a:stretch/>
        </p:blipFill>
        <p:spPr>
          <a:xfrm>
            <a:off x="7535325" y="2499825"/>
            <a:ext cx="1608675" cy="2643676"/>
          </a:xfrm>
          <a:prstGeom prst="rect">
            <a:avLst/>
          </a:prstGeom>
          <a:noFill/>
          <a:ln>
            <a:noFill/>
          </a:ln>
        </p:spPr>
      </p:pic>
      <p:pic>
        <p:nvPicPr>
          <p:cNvPr id="115" name="Google Shape;115;p19"/>
          <p:cNvPicPr preferRelativeResize="0"/>
          <p:nvPr/>
        </p:nvPicPr>
        <p:blipFill rotWithShape="1">
          <a:blip r:embed="rId6">
            <a:alphaModFix/>
          </a:blip>
          <a:srcRect b="0" l="0" r="0" t="2723"/>
          <a:stretch/>
        </p:blipFill>
        <p:spPr>
          <a:xfrm>
            <a:off x="6070750" y="2386290"/>
            <a:ext cx="1146900" cy="2870746"/>
          </a:xfrm>
          <a:prstGeom prst="rect">
            <a:avLst/>
          </a:prstGeom>
          <a:noFill/>
          <a:ln>
            <a:noFill/>
          </a:ln>
        </p:spPr>
      </p:pic>
      <p:sp>
        <p:nvSpPr>
          <p:cNvPr id="116" name="Google Shape;116;p19"/>
          <p:cNvSpPr txBox="1"/>
          <p:nvPr/>
        </p:nvSpPr>
        <p:spPr>
          <a:xfrm>
            <a:off x="7579775" y="2184050"/>
            <a:ext cx="19263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False Negatives</a:t>
            </a:r>
            <a:r>
              <a:rPr lang="en" sz="1300">
                <a:solidFill>
                  <a:schemeClr val="dk2"/>
                </a:solidFill>
              </a:rPr>
              <a:t>:</a:t>
            </a:r>
            <a:endParaRPr sz="13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17" name="Google Shape;117;p19"/>
          <p:cNvSpPr txBox="1"/>
          <p:nvPr/>
        </p:nvSpPr>
        <p:spPr>
          <a:xfrm>
            <a:off x="6028250" y="2083600"/>
            <a:ext cx="19263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False Positives:</a:t>
            </a:r>
            <a:endParaRPr sz="13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Contributions</a:t>
            </a:r>
            <a:endParaRPr/>
          </a:p>
          <a:p>
            <a:pPr indent="0" lvl="0" marL="0" rtl="0" algn="l">
              <a:spcBef>
                <a:spcPts val="0"/>
              </a:spcBef>
              <a:spcAft>
                <a:spcPts val="0"/>
              </a:spcAft>
              <a:buNone/>
            </a:pPr>
            <a:r>
              <a:t/>
            </a:r>
            <a:endParaRPr/>
          </a:p>
        </p:txBody>
      </p:sp>
      <p:sp>
        <p:nvSpPr>
          <p:cNvPr id="123" name="Google Shape;12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Tyler: Team assembly, meeting coordination, helped with trying to tune FFNN (changing </a:t>
            </a:r>
            <a:r>
              <a:rPr lang="en"/>
              <a:t>hyperparameters</a:t>
            </a:r>
            <a:r>
              <a:rPr lang="en"/>
              <a:t>, trying feature weighting in loss func, trying SMOE to </a:t>
            </a:r>
            <a:r>
              <a:rPr lang="en"/>
              <a:t>artificially</a:t>
            </a:r>
            <a:r>
              <a:rPr lang="en"/>
              <a:t> balance classes), came up with initial perceptron implementation.</a:t>
            </a:r>
            <a:endParaRPr/>
          </a:p>
          <a:p>
            <a:pPr indent="0" lvl="0" marL="0" rtl="0" algn="l">
              <a:spcBef>
                <a:spcPts val="1200"/>
              </a:spcBef>
              <a:spcAft>
                <a:spcPts val="0"/>
              </a:spcAft>
              <a:buNone/>
            </a:pPr>
            <a:r>
              <a:rPr lang="en"/>
              <a:t>Kevin: Handled gib hub branches, helped create code for FFNN, helped clean the data before using it. Helped test alterations of FFNN, helped with presentation, helped with decision tree code. Helped with error </a:t>
            </a:r>
            <a:r>
              <a:rPr lang="en"/>
              <a:t>analysis.</a:t>
            </a:r>
            <a:endParaRPr/>
          </a:p>
          <a:p>
            <a:pPr indent="0" lvl="0" marL="0" rtl="0" algn="l">
              <a:spcBef>
                <a:spcPts val="1200"/>
              </a:spcBef>
              <a:spcAft>
                <a:spcPts val="0"/>
              </a:spcAft>
              <a:buNone/>
            </a:pPr>
            <a:r>
              <a:rPr lang="en"/>
              <a:t>Ferdous: Helped create code for the error analysis and find the </a:t>
            </a:r>
            <a:r>
              <a:rPr lang="en"/>
              <a:t>comparisons</a:t>
            </a:r>
            <a:r>
              <a:rPr lang="en"/>
              <a:t> between </a:t>
            </a:r>
            <a:r>
              <a:rPr lang="en"/>
              <a:t>data points</a:t>
            </a:r>
            <a:r>
              <a:rPr lang="en"/>
              <a:t> using </a:t>
            </a:r>
            <a:r>
              <a:rPr lang="en"/>
              <a:t>pearson</a:t>
            </a:r>
            <a:r>
              <a:rPr lang="en"/>
              <a:t> </a:t>
            </a:r>
            <a:r>
              <a:rPr lang="en"/>
              <a:t>coefficients</a:t>
            </a:r>
            <a:r>
              <a:rPr lang="en"/>
              <a:t> and decide next steps, helped clean data before using the csv file, helped with presentations.</a:t>
            </a:r>
            <a:endParaRPr/>
          </a:p>
          <a:p>
            <a:pPr indent="0" lvl="0" marL="0" rtl="0" algn="l">
              <a:spcBef>
                <a:spcPts val="1200"/>
              </a:spcBef>
              <a:spcAft>
                <a:spcPts val="1200"/>
              </a:spcAft>
              <a:buNone/>
            </a:pPr>
            <a:r>
              <a:rPr lang="en"/>
              <a:t>David: Converted Tyler’s initial perceptron into an </a:t>
            </a:r>
            <a:r>
              <a:rPr lang="en"/>
              <a:t>average</a:t>
            </a:r>
            <a:r>
              <a:rPr lang="en"/>
              <a:t> </a:t>
            </a:r>
            <a:r>
              <a:rPr lang="en"/>
              <a:t>perceptron</a:t>
            </a:r>
            <a:r>
              <a:rPr lang="en"/>
              <a:t> and trained perceptron on three time periods. Did pearson correlation coefficients for perceptron implementation. Created heatmaps and made the evaluation metrics for three time periods.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2044150" y="141398"/>
            <a:ext cx="5588100" cy="77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deserve an A?</a:t>
            </a:r>
            <a:endParaRPr/>
          </a:p>
          <a:p>
            <a:pPr indent="0" lvl="0" marL="0" rtl="0" algn="l">
              <a:lnSpc>
                <a:spcPct val="115000"/>
              </a:lnSpc>
              <a:spcBef>
                <a:spcPts val="0"/>
              </a:spcBef>
              <a:spcAft>
                <a:spcPts val="1200"/>
              </a:spcAft>
              <a:buClr>
                <a:schemeClr val="dk1"/>
              </a:buClr>
              <a:buSzPct val="65346"/>
              <a:buFont typeface="Arial"/>
              <a:buNone/>
            </a:pPr>
            <a:r>
              <a:rPr lang="en" sz="1683">
                <a:solidFill>
                  <a:srgbClr val="3A4F66"/>
                </a:solidFill>
                <a:highlight>
                  <a:srgbClr val="FFFFFF"/>
                </a:highlight>
                <a:latin typeface="Lobster"/>
                <a:ea typeface="Lobster"/>
                <a:cs typeface="Lobster"/>
                <a:sym typeface="Lobster"/>
              </a:rPr>
              <a:t>“Success doesn’t just happen. It is a product of hard work, grit and ingenuity.” - Ogwo David Emenike</a:t>
            </a:r>
            <a:endParaRPr sz="3133">
              <a:solidFill>
                <a:srgbClr val="3A4F66"/>
              </a:solidFill>
              <a:latin typeface="Lobster"/>
              <a:ea typeface="Lobster"/>
              <a:cs typeface="Lobster"/>
              <a:sym typeface="Lobster"/>
            </a:endParaRPr>
          </a:p>
        </p:txBody>
      </p:sp>
      <p:sp>
        <p:nvSpPr>
          <p:cNvPr id="129" name="Google Shape;129;p21"/>
          <p:cNvSpPr txBox="1"/>
          <p:nvPr>
            <p:ph idx="1" type="body"/>
          </p:nvPr>
        </p:nvSpPr>
        <p:spPr>
          <a:xfrm>
            <a:off x="377725" y="1210225"/>
            <a:ext cx="8590800" cy="3780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b="1" sz="1350">
              <a:solidFill>
                <a:srgbClr val="3A4F66"/>
              </a:solidFill>
              <a:highlight>
                <a:srgbClr val="FFFFFF"/>
              </a:highlight>
              <a:latin typeface="Roboto"/>
              <a:ea typeface="Roboto"/>
              <a:cs typeface="Roboto"/>
              <a:sym typeface="Roboto"/>
            </a:endParaRPr>
          </a:p>
          <a:p>
            <a:pPr indent="-323850" lvl="0" marL="457200" rtl="0" algn="l">
              <a:spcBef>
                <a:spcPts val="1200"/>
              </a:spcBef>
              <a:spcAft>
                <a:spcPts val="0"/>
              </a:spcAft>
              <a:buClr>
                <a:srgbClr val="000000"/>
              </a:buClr>
              <a:buSzPct val="100000"/>
              <a:buFont typeface="Roboto"/>
              <a:buAutoNum type="arabicPeriod"/>
            </a:pPr>
            <a:r>
              <a:rPr lang="en" sz="6000">
                <a:solidFill>
                  <a:srgbClr val="000000"/>
                </a:solidFill>
                <a:latin typeface="Roboto"/>
                <a:ea typeface="Roboto"/>
                <a:cs typeface="Roboto"/>
                <a:sym typeface="Roboto"/>
              </a:rPr>
              <a:t>Set out to solve a problem extremely useful for student population,</a:t>
            </a:r>
            <a:r>
              <a:rPr lang="en" sz="6000">
                <a:solidFill>
                  <a:srgbClr val="3A4F66"/>
                </a:solidFill>
                <a:latin typeface="Roboto"/>
                <a:ea typeface="Roboto"/>
                <a:cs typeface="Roboto"/>
                <a:sym typeface="Roboto"/>
              </a:rPr>
              <a:t> </a:t>
            </a:r>
            <a:r>
              <a:rPr b="1" lang="en" sz="6000">
                <a:solidFill>
                  <a:srgbClr val="3C78D8"/>
                </a:solidFill>
                <a:latin typeface="Roboto"/>
                <a:ea typeface="Roboto"/>
                <a:cs typeface="Roboto"/>
                <a:sym typeface="Roboto"/>
              </a:rPr>
              <a:t>predicting a students grades in a given course.</a:t>
            </a:r>
            <a:endParaRPr b="1" sz="6000">
              <a:solidFill>
                <a:srgbClr val="3C78D8"/>
              </a:solidFill>
              <a:latin typeface="Roboto"/>
              <a:ea typeface="Roboto"/>
              <a:cs typeface="Roboto"/>
              <a:sym typeface="Roboto"/>
            </a:endParaRPr>
          </a:p>
          <a:p>
            <a:pPr indent="-323850" lvl="0" marL="457200" rtl="0" algn="l">
              <a:spcBef>
                <a:spcPts val="0"/>
              </a:spcBef>
              <a:spcAft>
                <a:spcPts val="0"/>
              </a:spcAft>
              <a:buClr>
                <a:srgbClr val="000000"/>
              </a:buClr>
              <a:buSzPct val="100000"/>
              <a:buFont typeface="Roboto"/>
              <a:buAutoNum type="arabicPeriod"/>
            </a:pPr>
            <a:r>
              <a:rPr lang="en" sz="6000">
                <a:solidFill>
                  <a:srgbClr val="000000"/>
                </a:solidFill>
                <a:latin typeface="Roboto"/>
                <a:ea typeface="Roboto"/>
                <a:cs typeface="Roboto"/>
                <a:sym typeface="Roboto"/>
              </a:rPr>
              <a:t>Used fundamental concepts in this course, </a:t>
            </a:r>
            <a:r>
              <a:rPr b="1" lang="en" sz="6000">
                <a:solidFill>
                  <a:srgbClr val="3C78D8"/>
                </a:solidFill>
                <a:latin typeface="Roboto"/>
                <a:ea typeface="Roboto"/>
                <a:cs typeface="Roboto"/>
                <a:sym typeface="Roboto"/>
              </a:rPr>
              <a:t>FFNN and perceptron</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to attempt to solve our original problem of predicting a given students final letter grade.</a:t>
            </a:r>
            <a:endParaRPr sz="6000">
              <a:solidFill>
                <a:srgbClr val="000000"/>
              </a:solidFill>
              <a:latin typeface="Roboto"/>
              <a:ea typeface="Roboto"/>
              <a:cs typeface="Roboto"/>
              <a:sym typeface="Roboto"/>
            </a:endParaRPr>
          </a:p>
          <a:p>
            <a:pPr indent="-323850" lvl="1" marL="914400" rtl="0" algn="l">
              <a:spcBef>
                <a:spcPts val="0"/>
              </a:spcBef>
              <a:spcAft>
                <a:spcPts val="0"/>
              </a:spcAft>
              <a:buClr>
                <a:srgbClr val="000000"/>
              </a:buClr>
              <a:buSzPct val="100000"/>
              <a:buFont typeface="Roboto"/>
              <a:buAutoNum type="alphaLcPeriod"/>
            </a:pPr>
            <a:r>
              <a:rPr lang="en" sz="6000">
                <a:solidFill>
                  <a:srgbClr val="000000"/>
                </a:solidFill>
                <a:latin typeface="Roboto"/>
                <a:ea typeface="Roboto"/>
                <a:cs typeface="Roboto"/>
                <a:sym typeface="Roboto"/>
              </a:rPr>
              <a:t>Tried techniques such as </a:t>
            </a:r>
            <a:r>
              <a:rPr b="1" lang="en" sz="6000">
                <a:solidFill>
                  <a:srgbClr val="3C78D8"/>
                </a:solidFill>
                <a:latin typeface="Roboto"/>
                <a:ea typeface="Roboto"/>
                <a:cs typeface="Roboto"/>
                <a:sym typeface="Roboto"/>
              </a:rPr>
              <a:t>hyperparameter tuning, weighting the loss function, and synthetically balancing our dataset</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to improve bad performance.</a:t>
            </a:r>
            <a:endParaRPr sz="6000">
              <a:solidFill>
                <a:srgbClr val="000000"/>
              </a:solidFill>
              <a:latin typeface="Roboto"/>
              <a:ea typeface="Roboto"/>
              <a:cs typeface="Roboto"/>
              <a:sym typeface="Roboto"/>
            </a:endParaRPr>
          </a:p>
          <a:p>
            <a:pPr indent="-323850" lvl="1" marL="914400" rtl="0" algn="l">
              <a:spcBef>
                <a:spcPts val="0"/>
              </a:spcBef>
              <a:spcAft>
                <a:spcPts val="0"/>
              </a:spcAft>
              <a:buClr>
                <a:srgbClr val="000000"/>
              </a:buClr>
              <a:buSzPct val="100000"/>
              <a:buFont typeface="Roboto"/>
              <a:buAutoNum type="alphaLcPeriod"/>
            </a:pPr>
            <a:r>
              <a:rPr lang="en" sz="6000">
                <a:solidFill>
                  <a:srgbClr val="000000"/>
                </a:solidFill>
                <a:latin typeface="Roboto"/>
                <a:ea typeface="Roboto"/>
                <a:cs typeface="Roboto"/>
                <a:sym typeface="Roboto"/>
              </a:rPr>
              <a:t>Implemented</a:t>
            </a:r>
            <a:r>
              <a:rPr lang="en" sz="6000">
                <a:solidFill>
                  <a:srgbClr val="3A4F66"/>
                </a:solidFill>
                <a:latin typeface="Roboto"/>
                <a:ea typeface="Roboto"/>
                <a:cs typeface="Roboto"/>
                <a:sym typeface="Roboto"/>
              </a:rPr>
              <a:t> </a:t>
            </a:r>
            <a:r>
              <a:rPr b="1" lang="en" sz="6000">
                <a:solidFill>
                  <a:srgbClr val="3C78D8"/>
                </a:solidFill>
                <a:latin typeface="Roboto"/>
                <a:ea typeface="Roboto"/>
                <a:cs typeface="Roboto"/>
                <a:sym typeface="Roboto"/>
              </a:rPr>
              <a:t>Vanilla Perceptron</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thinking that a simple model would be better.</a:t>
            </a:r>
            <a:endParaRPr sz="6000">
              <a:solidFill>
                <a:srgbClr val="000000"/>
              </a:solidFill>
              <a:latin typeface="Roboto"/>
              <a:ea typeface="Roboto"/>
              <a:cs typeface="Roboto"/>
              <a:sym typeface="Roboto"/>
            </a:endParaRPr>
          </a:p>
          <a:p>
            <a:pPr indent="-323850" lvl="1" marL="914400" rtl="0" algn="l">
              <a:spcBef>
                <a:spcPts val="0"/>
              </a:spcBef>
              <a:spcAft>
                <a:spcPts val="0"/>
              </a:spcAft>
              <a:buClr>
                <a:srgbClr val="000000"/>
              </a:buClr>
              <a:buSzPct val="100000"/>
              <a:buFont typeface="Roboto"/>
              <a:buAutoNum type="alphaLcPeriod"/>
            </a:pPr>
            <a:r>
              <a:rPr lang="en" sz="6000">
                <a:solidFill>
                  <a:srgbClr val="000000"/>
                </a:solidFill>
                <a:latin typeface="Roboto"/>
                <a:ea typeface="Roboto"/>
                <a:cs typeface="Roboto"/>
                <a:sym typeface="Roboto"/>
              </a:rPr>
              <a:t>Kept on</a:t>
            </a:r>
            <a:r>
              <a:rPr lang="en" sz="6000">
                <a:solidFill>
                  <a:srgbClr val="3A4F66"/>
                </a:solidFill>
                <a:latin typeface="Roboto"/>
                <a:ea typeface="Roboto"/>
                <a:cs typeface="Roboto"/>
                <a:sym typeface="Roboto"/>
              </a:rPr>
              <a:t> </a:t>
            </a:r>
            <a:r>
              <a:rPr b="1" lang="en" sz="6000">
                <a:solidFill>
                  <a:srgbClr val="3C78D8"/>
                </a:solidFill>
                <a:latin typeface="Roboto"/>
                <a:ea typeface="Roboto"/>
                <a:cs typeface="Roboto"/>
                <a:sym typeface="Roboto"/>
              </a:rPr>
              <a:t>improving from there</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attempting to implement a average perceptron.</a:t>
            </a:r>
            <a:endParaRPr sz="6000">
              <a:solidFill>
                <a:srgbClr val="000000"/>
              </a:solidFill>
              <a:latin typeface="Roboto"/>
              <a:ea typeface="Roboto"/>
              <a:cs typeface="Roboto"/>
              <a:sym typeface="Roboto"/>
            </a:endParaRPr>
          </a:p>
          <a:p>
            <a:pPr indent="-323850" lvl="0" marL="457200" rtl="0" algn="l">
              <a:spcBef>
                <a:spcPts val="0"/>
              </a:spcBef>
              <a:spcAft>
                <a:spcPts val="0"/>
              </a:spcAft>
              <a:buClr>
                <a:srgbClr val="000000"/>
              </a:buClr>
              <a:buSzPct val="100000"/>
              <a:buFont typeface="Roboto"/>
              <a:buAutoNum type="arabicPeriod"/>
            </a:pPr>
            <a:r>
              <a:rPr lang="en" sz="6000">
                <a:solidFill>
                  <a:srgbClr val="000000"/>
                </a:solidFill>
                <a:latin typeface="Roboto"/>
                <a:ea typeface="Roboto"/>
                <a:cs typeface="Roboto"/>
                <a:sym typeface="Roboto"/>
              </a:rPr>
              <a:t>We </a:t>
            </a:r>
            <a:r>
              <a:rPr b="1" lang="en" sz="6000">
                <a:solidFill>
                  <a:srgbClr val="3C78D8"/>
                </a:solidFill>
                <a:latin typeface="Roboto"/>
                <a:ea typeface="Roboto"/>
                <a:cs typeface="Roboto"/>
                <a:sym typeface="Roboto"/>
              </a:rPr>
              <a:t>humbled ourselves and asked for help</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when we hit a roadblock that we couldn’t get past.</a:t>
            </a:r>
            <a:endParaRPr sz="6000">
              <a:solidFill>
                <a:srgbClr val="000000"/>
              </a:solidFill>
              <a:latin typeface="Roboto"/>
              <a:ea typeface="Roboto"/>
              <a:cs typeface="Roboto"/>
              <a:sym typeface="Roboto"/>
            </a:endParaRPr>
          </a:p>
          <a:p>
            <a:pPr indent="-323850" lvl="0" marL="457200" rtl="0" algn="l">
              <a:spcBef>
                <a:spcPts val="0"/>
              </a:spcBef>
              <a:spcAft>
                <a:spcPts val="0"/>
              </a:spcAft>
              <a:buClr>
                <a:srgbClr val="000000"/>
              </a:buClr>
              <a:buSzPct val="100000"/>
              <a:buFont typeface="Roboto"/>
              <a:buAutoNum type="arabicPeriod"/>
            </a:pPr>
            <a:r>
              <a:rPr lang="en" sz="6000">
                <a:solidFill>
                  <a:srgbClr val="000000"/>
                </a:solidFill>
                <a:latin typeface="Roboto"/>
                <a:ea typeface="Roboto"/>
                <a:cs typeface="Roboto"/>
                <a:sym typeface="Roboto"/>
              </a:rPr>
              <a:t>Then </a:t>
            </a:r>
            <a:r>
              <a:rPr b="1" lang="en" sz="6000">
                <a:solidFill>
                  <a:srgbClr val="3C78D8"/>
                </a:solidFill>
                <a:latin typeface="Roboto"/>
                <a:ea typeface="Roboto"/>
                <a:cs typeface="Roboto"/>
                <a:sym typeface="Roboto"/>
              </a:rPr>
              <a:t>implemented the feedback</a:t>
            </a:r>
            <a:r>
              <a:rPr lang="en" sz="6000">
                <a:solidFill>
                  <a:srgbClr val="3A4F66"/>
                </a:solidFill>
                <a:latin typeface="Roboto"/>
                <a:ea typeface="Roboto"/>
                <a:cs typeface="Roboto"/>
                <a:sym typeface="Roboto"/>
              </a:rPr>
              <a:t> </a:t>
            </a:r>
            <a:r>
              <a:rPr lang="en" sz="6000">
                <a:solidFill>
                  <a:srgbClr val="000000"/>
                </a:solidFill>
                <a:latin typeface="Roboto"/>
                <a:ea typeface="Roboto"/>
                <a:cs typeface="Roboto"/>
                <a:sym typeface="Roboto"/>
              </a:rPr>
              <a:t>to gain invaluable insights about the performance of our model and our dataset.</a:t>
            </a:r>
            <a:endParaRPr sz="6000">
              <a:solidFill>
                <a:srgbClr val="000000"/>
              </a:solidFill>
              <a:latin typeface="Roboto"/>
              <a:ea typeface="Roboto"/>
              <a:cs typeface="Roboto"/>
              <a:sym typeface="Roboto"/>
            </a:endParaRPr>
          </a:p>
          <a:p>
            <a:pPr indent="-323850" lvl="0" marL="457200" rtl="0" algn="l">
              <a:spcBef>
                <a:spcPts val="0"/>
              </a:spcBef>
              <a:spcAft>
                <a:spcPts val="0"/>
              </a:spcAft>
              <a:buClr>
                <a:srgbClr val="000000"/>
              </a:buClr>
              <a:buSzPct val="100000"/>
              <a:buFont typeface="Roboto"/>
              <a:buAutoNum type="arabicPeriod"/>
            </a:pPr>
            <a:r>
              <a:rPr lang="en" sz="6000">
                <a:solidFill>
                  <a:srgbClr val="000000"/>
                </a:solidFill>
                <a:latin typeface="Roboto"/>
                <a:ea typeface="Roboto"/>
                <a:cs typeface="Roboto"/>
                <a:sym typeface="Roboto"/>
              </a:rPr>
              <a:t>Implementing this feedback then led to us discovering that our problem was potentially a </a:t>
            </a:r>
            <a:r>
              <a:rPr b="1" lang="en" sz="6000">
                <a:solidFill>
                  <a:srgbClr val="3C78D8"/>
                </a:solidFill>
                <a:latin typeface="Roboto"/>
                <a:ea typeface="Roboto"/>
                <a:cs typeface="Roboto"/>
                <a:sym typeface="Roboto"/>
              </a:rPr>
              <a:t>non-linear one which is a massively important insight</a:t>
            </a:r>
            <a:r>
              <a:rPr lang="en" sz="6000">
                <a:solidFill>
                  <a:srgbClr val="3C78D8"/>
                </a:solidFill>
                <a:latin typeface="Roboto"/>
                <a:ea typeface="Roboto"/>
                <a:cs typeface="Roboto"/>
                <a:sym typeface="Roboto"/>
              </a:rPr>
              <a:t>.</a:t>
            </a:r>
            <a:endParaRPr sz="6000">
              <a:solidFill>
                <a:srgbClr val="3C78D8"/>
              </a:solidFill>
              <a:latin typeface="Roboto"/>
              <a:ea typeface="Roboto"/>
              <a:cs typeface="Roboto"/>
              <a:sym typeface="Roboto"/>
            </a:endParaRPr>
          </a:p>
          <a:p>
            <a:pPr indent="0" lvl="0" marL="0" rtl="0" algn="l">
              <a:spcBef>
                <a:spcPts val="1200"/>
              </a:spcBef>
              <a:spcAft>
                <a:spcPts val="0"/>
              </a:spcAft>
              <a:buNone/>
            </a:pPr>
            <a:r>
              <a:rPr b="1" lang="en" sz="6400">
                <a:solidFill>
                  <a:srgbClr val="00FF00"/>
                </a:solidFill>
                <a:latin typeface="Roboto"/>
                <a:ea typeface="Roboto"/>
                <a:cs typeface="Roboto"/>
                <a:sym typeface="Roboto"/>
              </a:rPr>
              <a:t>We never gave up, attempted to solve the problem to the best of our abilities, stopped and asked for help, implemented that help, learned how we could do even better in the future</a:t>
            </a:r>
            <a:endParaRPr b="1" sz="6400">
              <a:solidFill>
                <a:srgbClr val="00FF00"/>
              </a:solidFill>
            </a:endParaRPr>
          </a:p>
          <a:p>
            <a:pPr indent="0" lvl="0" marL="0" rtl="0" algn="l">
              <a:spcBef>
                <a:spcPts val="1200"/>
              </a:spcBef>
              <a:spcAft>
                <a:spcPts val="1200"/>
              </a:spcAft>
              <a:buNone/>
            </a:pPr>
            <a:r>
              <a:t/>
            </a:r>
            <a:endParaRPr/>
          </a:p>
        </p:txBody>
      </p:sp>
      <p:pic>
        <p:nvPicPr>
          <p:cNvPr id="130" name="Google Shape;130;p21"/>
          <p:cNvPicPr preferRelativeResize="0"/>
          <p:nvPr/>
        </p:nvPicPr>
        <p:blipFill rotWithShape="1">
          <a:blip r:embed="rId3">
            <a:alphaModFix/>
          </a:blip>
          <a:srcRect b="0" l="0" r="66068" t="0"/>
          <a:stretch/>
        </p:blipFill>
        <p:spPr>
          <a:xfrm>
            <a:off x="377725" y="-141500"/>
            <a:ext cx="1546650" cy="1508975"/>
          </a:xfrm>
          <a:prstGeom prst="rect">
            <a:avLst/>
          </a:prstGeom>
          <a:noFill/>
          <a:ln>
            <a:noFill/>
          </a:ln>
        </p:spPr>
      </p:pic>
      <p:pic>
        <p:nvPicPr>
          <p:cNvPr id="131" name="Google Shape;131;p21" title="AdobeStock_273709705.jpeg"/>
          <p:cNvPicPr preferRelativeResize="0"/>
          <p:nvPr/>
        </p:nvPicPr>
        <p:blipFill rotWithShape="1">
          <a:blip r:embed="rId4">
            <a:alphaModFix/>
          </a:blip>
          <a:srcRect b="9337" l="9437" r="8494" t="9328"/>
          <a:stretch/>
        </p:blipFill>
        <p:spPr>
          <a:xfrm>
            <a:off x="7752025" y="84875"/>
            <a:ext cx="1065677" cy="1056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